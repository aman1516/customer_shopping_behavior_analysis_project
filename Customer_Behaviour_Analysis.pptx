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0C0D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Accessories</c:v>
                  </c:pt>
                  <c:pt idx="2">
                    <c:v>Clothing</c:v>
                  </c:pt>
                  <c:pt idx="3">
                    <c:v>Footwear</c:v>
                  </c:pt>
                  <c:pt idx="4">
                    <c:v>Outerwear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486367</c:v>
                </c:pt>
                <c:pt idx="1">
                  <c:v>194867</c:v>
                </c:pt>
                <c:pt idx="2">
                  <c:v>183188</c:v>
                </c:pt>
                <c:pt idx="3">
                  <c:v>111236</c:v>
                </c:pt>
                <c:pt idx="4">
                  <c:v>18524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F0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C3D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F0F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355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bubble3D val="0"/>
            <c:spPr>
              <a:solidFill>
                <a:srgbClr val="F4C54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390965</c:v>
                </c:pt>
                <c:pt idx="1">
                  <c:v>352060</c:v>
                </c:pt>
                <c:pt idx="2">
                  <c:v>251158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AF0F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355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 ($)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Subscribed (1579)</c:v>
                  </c:pt>
                  <c:pt idx="1">
                    <c:v>Not Subscribed (3421)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270.58</c:v>
                </c:pt>
                <c:pt idx="1">
                  <c:v>165.72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F0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C3D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F0F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355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Analysis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Retail Intelligence 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200400"/>
            <a:ext cx="5029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4290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D355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EDA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34290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D3558"/>
          </a:solidFill>
          <a:ln/>
        </p:spPr>
      </p:sp>
      <p:sp>
        <p:nvSpPr>
          <p:cNvPr id="10" name="Text 8"/>
          <p:cNvSpPr/>
          <p:nvPr/>
        </p:nvSpPr>
        <p:spPr>
          <a:xfrm>
            <a:off x="2450592" y="3429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35424" y="34290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D3558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3429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0256" y="34290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D3558"/>
          </a:solidFill>
          <a:ln/>
        </p:spPr>
      </p:sp>
      <p:sp>
        <p:nvSpPr>
          <p:cNvPr id="14" name="Text 12"/>
          <p:cNvSpPr/>
          <p:nvPr/>
        </p:nvSpPr>
        <p:spPr>
          <a:xfrm>
            <a:off x="6620256" y="3429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Business Insights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E-commerce Dataset  |  5,000 Customers  |  30 Unique Products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143000"/>
          </a:xfrm>
          <a:prstGeom prst="rect">
            <a:avLst/>
          </a:prstGeom>
          <a:solidFill>
            <a:srgbClr val="0D355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E-commerce Dataset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1143000"/>
          </a:xfrm>
          <a:prstGeom prst="rect">
            <a:avLst/>
          </a:prstGeom>
          <a:solidFill>
            <a:srgbClr val="0D355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73152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Nature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73752" y="1463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(Tabular)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114800" cy="1143000"/>
          </a:xfrm>
          <a:prstGeom prst="rect">
            <a:avLst/>
          </a:prstGeom>
          <a:solidFill>
            <a:srgbClr val="0D355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73152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450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Level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" y="2834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Transaction Level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377440"/>
            <a:ext cx="4114800" cy="1143000"/>
          </a:xfrm>
          <a:prstGeom prst="rect">
            <a:avLst/>
          </a:prstGeom>
          <a:solidFill>
            <a:srgbClr val="0D355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377440"/>
            <a:ext cx="73152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2450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Purpose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73752" y="2834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Analysis &amp; Business Decision-Making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749040"/>
            <a:ext cx="8595360" cy="91440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749040"/>
            <a:ext cx="73152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Mix: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→ Age, Purchase Amount, Previous Purchases     |     Categorical → Category, Payment Method, Season, Gender, Shipping Type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60120"/>
          </a:xfrm>
          <a:prstGeom prst="rect">
            <a:avLst/>
          </a:prstGeom>
          <a:solidFill>
            <a:srgbClr val="0D3D6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96012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retail company understand customer purchasing behaviour to increase revenue, improve customer retention, and optimize marketing strategies?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2816352" cy="265176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2148840"/>
            <a:ext cx="281635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267712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Customer Retention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frequent vs one-time buyers?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2918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loyalty identification system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2148840"/>
            <a:ext cx="2816352" cy="265176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3" name="Shape 11"/>
          <p:cNvSpPr/>
          <p:nvPr/>
        </p:nvSpPr>
        <p:spPr>
          <a:xfrm>
            <a:off x="3227832" y="2148840"/>
            <a:ext cx="2816352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3319272" y="2267712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Ineffective Campaigns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9272" y="278892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discounts really increase purchases?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9272" y="32918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respond to promo codes?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2148840"/>
            <a:ext cx="2816352" cy="265176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81344" y="2148840"/>
            <a:ext cx="2816352" cy="54864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2267712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Segmentation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72784" y="278892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identify high-value customers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329184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personalized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1691640"/>
          </a:xfrm>
          <a:prstGeom prst="rect">
            <a:avLst/>
          </a:prstGeom>
          <a:solidFill>
            <a:srgbClr val="0D3558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887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691640"/>
          </a:xfrm>
          <a:prstGeom prst="rect">
            <a:avLst/>
          </a:prstGeom>
          <a:solidFill>
            <a:srgbClr val="0D3558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6517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1887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0040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51760" cy="1691640"/>
          </a:xfrm>
          <a:prstGeom prst="rect">
            <a:avLst/>
          </a:prstGeom>
          <a:solidFill>
            <a:srgbClr val="0D3558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2651760" cy="54864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1887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08076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2651760" cy="1691640"/>
          </a:xfrm>
          <a:prstGeom prst="rect">
            <a:avLst/>
          </a:prstGeom>
          <a:solidFill>
            <a:srgbClr val="0D3558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80360"/>
            <a:ext cx="2651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108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$994K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20040" y="3977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651760" cy="1691640"/>
          </a:xfrm>
          <a:prstGeom prst="rect">
            <a:avLst/>
          </a:prstGeom>
          <a:solidFill>
            <a:srgbClr val="0D3558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26517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3108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$198.84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3200400" y="3977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80760" y="2880360"/>
            <a:ext cx="2651760" cy="1691640"/>
          </a:xfrm>
          <a:prstGeom prst="rect">
            <a:avLst/>
          </a:prstGeom>
          <a:solidFill>
            <a:srgbClr val="0D3558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880360"/>
            <a:ext cx="2651760" cy="54864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3108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080760" y="3977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Exploratory Data Analysis (Python)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14300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6128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61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356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pandas, loaded CSV into DataFrame for structured analysis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14300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116128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161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0515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Exploration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4356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df.head(), df.info(), df.describe() — checked nulls and data types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160520" cy="114300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48716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76148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category inconsistencies, handled missing values by business logic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160520" cy="114300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248716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487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2377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76148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→ category logic; Rating → product-level mean; Purchases → 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60520" cy="114300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81304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813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703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Handling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873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&amp; removed duplicates by Customer ID for accurate reporting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60520" cy="114300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0600" y="381304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813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703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Standardization &amp; Export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08736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(snake_case), exported clean data to SQL Server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Insights — 12 Key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51960" cy="56692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5" name="Shape 3"/>
          <p:cNvSpPr/>
          <p:nvPr/>
        </p:nvSpPr>
        <p:spPr>
          <a:xfrm>
            <a:off x="301752" y="105156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0664" y="103327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generates highest revenue?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51960" cy="56692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9" name="Shape 7"/>
          <p:cNvSpPr/>
          <p:nvPr/>
        </p:nvSpPr>
        <p:spPr>
          <a:xfrm>
            <a:off x="4782312" y="105156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21224" y="103327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discounts increasing purchase value?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1655064"/>
            <a:ext cx="4251960" cy="56692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3" name="Shape 11"/>
          <p:cNvSpPr/>
          <p:nvPr/>
        </p:nvSpPr>
        <p:spPr>
          <a:xfrm>
            <a:off x="301752" y="1746504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" y="1746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0664" y="172821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male vs female customers?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1655064"/>
            <a:ext cx="4251960" cy="56692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7" name="Shape 15"/>
          <p:cNvSpPr/>
          <p:nvPr/>
        </p:nvSpPr>
        <p:spPr>
          <a:xfrm>
            <a:off x="4782312" y="1746504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1746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21224" y="172821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spenders who also used discounts?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2350008"/>
            <a:ext cx="4251960" cy="56692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21" name="Shape 19"/>
          <p:cNvSpPr/>
          <p:nvPr/>
        </p:nvSpPr>
        <p:spPr>
          <a:xfrm>
            <a:off x="301752" y="24414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" y="2441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" y="24231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&amp; Bottom 5 products by review rating?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2350008"/>
            <a:ext cx="4251960" cy="56692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25" name="Shape 23"/>
          <p:cNvSpPr/>
          <p:nvPr/>
        </p:nvSpPr>
        <p:spPr>
          <a:xfrm>
            <a:off x="4782312" y="2441448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4782312" y="2441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21224" y="24231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vs Express shipping spend?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28600" y="3044952"/>
            <a:ext cx="4251960" cy="56692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29" name="Shape 27"/>
          <p:cNvSpPr/>
          <p:nvPr/>
        </p:nvSpPr>
        <p:spPr>
          <a:xfrm>
            <a:off x="301752" y="3136392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" y="3136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" y="311810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vs non-subscribed revenue?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09160" y="3044952"/>
            <a:ext cx="4251960" cy="56692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33" name="Shape 31"/>
          <p:cNvSpPr/>
          <p:nvPr/>
        </p:nvSpPr>
        <p:spPr>
          <a:xfrm>
            <a:off x="4782312" y="3136392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4782312" y="3136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21224" y="311810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discount usage %?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28600" y="3739896"/>
            <a:ext cx="4251960" cy="56692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37" name="Shape 35"/>
          <p:cNvSpPr/>
          <p:nvPr/>
        </p:nvSpPr>
        <p:spPr>
          <a:xfrm>
            <a:off x="301752" y="3831336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301752" y="38313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0664" y="381304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(New/Returning/Loyal)?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09160" y="3739896"/>
            <a:ext cx="4251960" cy="56692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41" name="Shape 39"/>
          <p:cNvSpPr/>
          <p:nvPr/>
        </p:nvSpPr>
        <p:spPr>
          <a:xfrm>
            <a:off x="4782312" y="3831336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4782312" y="38313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21224" y="381304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within each category?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28600" y="4434840"/>
            <a:ext cx="4251960" cy="56692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45" name="Shape 43"/>
          <p:cNvSpPr/>
          <p:nvPr/>
        </p:nvSpPr>
        <p:spPr>
          <a:xfrm>
            <a:off x="301752" y="452628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6" name="Text 44"/>
          <p:cNvSpPr/>
          <p:nvPr/>
        </p:nvSpPr>
        <p:spPr>
          <a:xfrm>
            <a:off x="301752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0664" y="450799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likely to subscribe?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709160" y="4434840"/>
            <a:ext cx="4251960" cy="56692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49" name="Shape 47"/>
          <p:cNvSpPr/>
          <p:nvPr/>
        </p:nvSpPr>
        <p:spPr>
          <a:xfrm>
            <a:off x="4782312" y="452628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0" name="Text 48"/>
          <p:cNvSpPr/>
          <p:nvPr/>
        </p:nvSpPr>
        <p:spPr>
          <a:xfrm>
            <a:off x="4782312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21224" y="450799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by age group?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Findings — Revenue &amp; Discounts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Revenue by Category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3444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868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Do Discounts Increase Purchase Value?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1325880"/>
            <a:ext cx="4297680" cy="123444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0" y="1325880"/>
            <a:ext cx="73152" cy="1234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1399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1737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$502,242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0" y="2057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Purchase: $182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2743200"/>
            <a:ext cx="4297680" cy="123444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743200"/>
            <a:ext cx="73152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0" y="2816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54880" y="3154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$491,941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54880" y="3474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Purchase: $219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0" y="4206240"/>
            <a:ext cx="4297680" cy="548640"/>
          </a:xfrm>
          <a:prstGeom prst="rect">
            <a:avLst/>
          </a:prstGeom>
          <a:solidFill>
            <a:srgbClr val="0D3D6B"/>
          </a:solidFill>
          <a:ln/>
        </p:spPr>
      </p:sp>
      <p:sp>
        <p:nvSpPr>
          <p:cNvPr id="18" name="Text 15"/>
          <p:cNvSpPr/>
          <p:nvPr/>
        </p:nvSpPr>
        <p:spPr>
          <a:xfrm>
            <a:off x="4663440" y="4251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Discounts increase average spend by 20% — strategically beneficial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Findings — Customers &amp; Products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Revenue by Gender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3444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868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Q9: Customer Segments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1325880"/>
            <a:ext cx="4297680" cy="100584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0" y="132588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13898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138988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61.7%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54880" y="1828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3,085 customers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2514600"/>
            <a:ext cx="4297680" cy="100584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514600"/>
            <a:ext cx="73152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0" y="25786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Customers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46720" y="257860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548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1,354 customers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0" y="3703320"/>
            <a:ext cx="4297680" cy="100584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0" y="3703320"/>
            <a:ext cx="73152" cy="100584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9" name="Text 16"/>
          <p:cNvSpPr/>
          <p:nvPr/>
        </p:nvSpPr>
        <p:spPr>
          <a:xfrm>
            <a:off x="4754880" y="37673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0" y="376732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754880" y="4206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561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Findings — Subscriptions &amp; Ratings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Subscribers vs Non-Subscribers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34440"/>
          <a:ext cx="4023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886200"/>
            <a:ext cx="4023360" cy="548640"/>
          </a:xfrm>
          <a:prstGeom prst="rect">
            <a:avLst/>
          </a:prstGeom>
          <a:solidFill>
            <a:srgbClr val="0D3D6B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Subscribers spend 63% more on average — subscription program is highly effective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0" y="868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Top &amp; Bottom 5 Items by Rating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0" y="12618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Top 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572768"/>
            <a:ext cx="2011680" cy="29260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1572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35040" y="15727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1920240"/>
            <a:ext cx="2011680" cy="29260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1920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35040" y="192024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2267712"/>
            <a:ext cx="2011680" cy="29260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22677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35040" y="226771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0" y="2615184"/>
            <a:ext cx="2011680" cy="29260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20" name="Text 17"/>
          <p:cNvSpPr/>
          <p:nvPr/>
        </p:nvSpPr>
        <p:spPr>
          <a:xfrm>
            <a:off x="4663440" y="26151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035040" y="26151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0" y="2962656"/>
            <a:ext cx="2011680" cy="29260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0" y="29626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35040" y="296265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3.79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12280" y="12618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Bottom 5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812280" y="1572768"/>
            <a:ext cx="2103120" cy="29260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27" name="Text 24"/>
          <p:cNvSpPr/>
          <p:nvPr/>
        </p:nvSpPr>
        <p:spPr>
          <a:xfrm>
            <a:off x="6903720" y="1572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321040" y="157276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812280" y="1920240"/>
            <a:ext cx="2103120" cy="29260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30" name="Text 27"/>
          <p:cNvSpPr/>
          <p:nvPr/>
        </p:nvSpPr>
        <p:spPr>
          <a:xfrm>
            <a:off x="6903720" y="1920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Headphones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321040" y="19202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3.08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812280" y="2267712"/>
            <a:ext cx="2103120" cy="29260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33" name="Text 30"/>
          <p:cNvSpPr/>
          <p:nvPr/>
        </p:nvSpPr>
        <p:spPr>
          <a:xfrm>
            <a:off x="6903720" y="22677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321040" y="226771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812280" y="2615184"/>
            <a:ext cx="2103120" cy="29260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36" name="Text 33"/>
          <p:cNvSpPr/>
          <p:nvPr/>
        </p:nvSpPr>
        <p:spPr>
          <a:xfrm>
            <a:off x="6903720" y="26151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321040" y="261518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3.17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812280" y="2962656"/>
            <a:ext cx="2103120" cy="29260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39" name="Text 36"/>
          <p:cNvSpPr/>
          <p:nvPr/>
        </p:nvSpPr>
        <p:spPr>
          <a:xfrm>
            <a:off x="6903720" y="29626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321040" y="296265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 (Donut Chart)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01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(Bar)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Season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6243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0358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by Location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447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Distribution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8587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Payment Method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Rankings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Items by Rating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801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Items by Rating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2128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Items by Revenue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6243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Items by Revenue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0358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Locations by Revenue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447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Locations by Revenue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 Interactive Filters: Category | Gender | Discount Applied | Subscription Status | Reset Button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118872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14400"/>
            <a:ext cx="73152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9875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Electronics Dominates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38988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$486K revenue — highest among all categories. Priority for marketing &amp; inventory.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51960" cy="118872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914400"/>
            <a:ext cx="73152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9875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Discounts Work!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38988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discounts spend $219 avg vs $182 without. Discounts boost AOV by 20%.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286000"/>
            <a:ext cx="4251960" cy="118872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" y="2286000"/>
            <a:ext cx="73152" cy="118872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23591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Subscribers Are Premium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" y="276148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spend $270 avg vs $166 for non-subscribers. 63% higher CLV.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251960" cy="118872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2286000"/>
            <a:ext cx="73152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23591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New York Leads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276148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$187K from New York; Kansas ($3.4K) is the lowest. Location-based strategy needed.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3657600"/>
            <a:ext cx="4251960" cy="118872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" y="3657600"/>
            <a:ext cx="73152" cy="1188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37307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Gloves Top Rated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" y="413308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(3.86) top rated; Phone (2.94) needs product quality improvement urgently.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251960" cy="118872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3657600"/>
            <a:ext cx="73152" cy="118872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37307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61.7% Loyal Customers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413308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3,085 loyal customers drive the most value. Retention programs are paying off.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EDA, data cleaning, missing value imputation, and export to SQL Server.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109728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33172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 Server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business queries using GROUP BY, CTEs, RANK(), CASE WHEN, subqueries and window functions.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0D3558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3657600"/>
            <a:ext cx="73152" cy="109728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49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 BI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interactive dashboards with slicers, filters, donut/bar charts and KPI cards.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057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Behaviour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SQL Server  •  Power BI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to improve retention, revenue &amp; marketing ROI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Behaviour Analysis</dc:title>
  <dc:subject>PptxGenJS Presentation</dc:subject>
  <dc:creator>PptxGenJS</dc:creator>
  <cp:lastModifiedBy>PptxGenJS</cp:lastModifiedBy>
  <cp:revision>1</cp:revision>
  <dcterms:created xsi:type="dcterms:W3CDTF">2026-05-17T05:01:37Z</dcterms:created>
  <dcterms:modified xsi:type="dcterms:W3CDTF">2026-05-17T05:01:37Z</dcterms:modified>
</cp:coreProperties>
</file>